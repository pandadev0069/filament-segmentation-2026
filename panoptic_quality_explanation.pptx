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4B4FF"/>
                </a:solidFill>
                <a:latin typeface="Meiryo"/>
              </a:defRPr>
            </a:pPr>
            <a:r>
              <a:t>AIの「目」の正確さを測る！</a:t>
            </a:r>
            <a:br/>
            <a:r>
              <a:t>Panoptic Quality (PQ) ってなに？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5"/>
                </a:solidFill>
                <a:latin typeface="Meiryo"/>
              </a:defRPr>
            </a:pPr>
            <a:r>
              <a:t>〜 自動運転や画像認識で大活躍する、一番欲張りな評価メーター 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4B4FF"/>
                </a:solidFill>
                <a:latin typeface="Meiryo"/>
              </a:defRPr>
            </a:pPr>
            <a:r>
              <a:t>1. なぜ新しい形が必要だったの？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78E696"/>
                </a:solidFill>
                <a:latin typeface="Meiryo"/>
              </a:defRPr>
            </a:pPr>
            <a:r>
              <a:t>■ 昔のAIは見分け方がバラバラだった</a:t>
            </a:r>
          </a:p>
          <a:p>
            <a:pPr>
              <a:spcAft>
                <a:spcPts val="2000"/>
              </a:spcAft>
              <a:defRPr sz="1800">
                <a:solidFill>
                  <a:srgbClr val="F0F0F5"/>
                </a:solidFill>
                <a:latin typeface="Meiryo"/>
              </a:defRPr>
            </a:pPr>
            <a:r>
              <a:t>  ・「モノ (Things)」：車、人、犬など、1つ2つと数えられるもの（インスタンス分割）</a:t>
            </a:r>
            <a:br/>
            <a:r>
              <a:t>  ・「背景 (Stuff)」：空、道路、草むらなど、境界がなくて数えられないもの（セマンティック分割）</a:t>
            </a:r>
          </a:p>
          <a:p>
            <a:pPr>
              <a:defRPr sz="2400" b="1">
                <a:solidFill>
                  <a:srgbClr val="78E696"/>
                </a:solidFill>
                <a:latin typeface="Meiryo"/>
              </a:defRPr>
            </a:pPr>
            <a:r>
              <a:t>■ PQは、すべてを同時に完璧に評価する</a:t>
            </a:r>
          </a:p>
          <a:p>
            <a:pPr>
              <a:defRPr sz="1800">
                <a:solidFill>
                  <a:srgbClr val="F0F0F5"/>
                </a:solidFill>
                <a:latin typeface="Meiryo"/>
              </a:defRPr>
            </a:pPr>
            <a:r>
              <a:t>  ・「数えられるモノ」も「背景」も、写真に写るすべてのピクセルを同時に見分ける欲張りセット（パノプティクス分割）。</a:t>
            </a:r>
            <a:br/>
            <a:r>
              <a:t>  ・ これがどれくらい正確にできているかを「1つのスコア」で表せるのがPQです！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4B4FF"/>
                </a:solidFill>
                <a:latin typeface="Meiryo"/>
              </a:defRPr>
            </a:pPr>
            <a:r>
              <a:t>2. PQの仕組み：2つの合格基準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0"/>
              </a:spcAft>
              <a:defRPr sz="2600" b="1">
                <a:solidFill>
                  <a:srgbClr val="FFA064"/>
                </a:solidFill>
                <a:latin typeface="Meiryo"/>
              </a:defRPr>
            </a:pPr>
            <a:r>
              <a:t>PQ  ＝  SQ (見つけた形のキレイさ)  ×  RQ (見落としのなさ)</a:t>
            </a:r>
          </a:p>
          <a:p>
            <a:pPr>
              <a:defRPr sz="2200" b="1">
                <a:solidFill>
                  <a:srgbClr val="64B4FF"/>
                </a:solidFill>
                <a:latin typeface="Meiryo"/>
              </a:defRPr>
            </a:pPr>
            <a:r>
              <a:t>① SQ (Segmentation Quality)：輪郭の正確さ</a:t>
            </a:r>
          </a:p>
          <a:p>
            <a:pPr>
              <a:spcAft>
                <a:spcPts val="2000"/>
              </a:spcAft>
              <a:defRPr sz="1800">
                <a:solidFill>
                  <a:srgbClr val="F0F0F5"/>
                </a:solidFill>
                <a:latin typeface="Meiryo"/>
              </a:defRPr>
            </a:pPr>
            <a:r>
              <a:t>  ・ AIが「ここが車だ」と塗った範囲が、本物の車の形とどれくらいぴったり重なっているか。</a:t>
            </a:r>
            <a:br/>
            <a:r>
              <a:t>  ・ 正しく見つけられたペアだけで、形のクオリティの平均点を計算します。</a:t>
            </a:r>
          </a:p>
          <a:p>
            <a:pPr>
              <a:defRPr sz="2200" b="1">
                <a:solidFill>
                  <a:srgbClr val="64B4FF"/>
                </a:solidFill>
                <a:latin typeface="Meiryo"/>
              </a:defRPr>
            </a:pPr>
            <a:r>
              <a:t>② RQ (Recognition Quality)：見落とし・お手つきのなさ</a:t>
            </a:r>
          </a:p>
          <a:p>
            <a:pPr>
              <a:defRPr sz="1800">
                <a:solidFill>
                  <a:srgbClr val="F0F0F5"/>
                </a:solidFill>
                <a:latin typeface="Meiryo"/>
              </a:defRPr>
            </a:pPr>
            <a:r>
              <a:t>  ・ そもそも、そこに車があることを見落とさずに気づけたか？（見落としゼロ）</a:t>
            </a:r>
            <a:br/>
            <a:r>
              <a:t>  ・ 何もない場所を「車だ！」と勘違いしなかったか？（お手つきゼロ）</a:t>
            </a:r>
            <a:br/>
            <a:r>
              <a:t>  ・ いわば、物の「発見確率（検出の正確さ）」です。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