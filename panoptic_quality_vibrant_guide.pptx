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A2B8"/>
                </a:solidFill>
              </a:defRPr>
            </a:pPr>
            <a:r>
              <a:t>AIの「目」の正確さを測る新基準！</a:t>
            </a:r>
          </a:p>
          <a:p>
            <a:pPr>
              <a:spcBef>
                <a:spcPts val="1000"/>
              </a:spcBef>
              <a:defRPr sz="3600" b="1">
                <a:solidFill>
                  <a:srgbClr val="212529"/>
                </a:solidFill>
              </a:defRPr>
            </a:pPr>
            <a:r>
              <a:t>パノプティック品質 (Panoptic Quality) とは？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・自動運転から宇宙観測まで、現在のAIには「画像切り抜き力」が求められています。</a:t>
            </a:r>
          </a:p>
          <a:p>
            <a:pPr>
              <a:spcAft>
                <a:spcPts val="800"/>
              </a:spcAft>
              <a:defRPr sz="1800">
                <a:solidFill>
                  <a:srgbClr val="6C757D"/>
                </a:solidFill>
              </a:defRPr>
            </a:pPr>
            <a:r>
              <a:t>・今回は太陽の不思議なガス現象「太陽フィラメント」を例に、最新の評価システムを学びましょう！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Arial"/>
              </a:defRPr>
            </a:pPr>
            <a:r>
              <a:t>「数えられるモノ」と「背景」を同時に測る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E6F5F5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A2B8"/>
                </a:solidFill>
              </a:defRPr>
            </a:pPr>
            <a:r>
              <a:t>Things (数えられるモノ)</a:t>
            </a:r>
          </a:p>
          <a:p>
            <a:br/>
            <a:pPr>
              <a:defRPr sz="1600">
                <a:solidFill>
                  <a:srgbClr val="212529"/>
                </a:solidFill>
              </a:defRPr>
            </a:pPr>
            <a:r>
              <a:t>境界線がハッキリしていて、個数が数えられる物体。</a:t>
            </a:r>
            <a:br/>
            <a:br/>
            <a:r>
              <a:t>例：車、人、太陽フィラメント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FFF0E6"/>
          </a:solidFill>
          <a:ln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D7E14"/>
                </a:solidFill>
              </a:defRPr>
            </a:pPr>
            <a:r>
              <a:t>Stuff (背景・染まり)</a:t>
            </a:r>
          </a:p>
          <a:p>
            <a:br/>
            <a:pPr>
              <a:defRPr sz="1600">
                <a:solidFill>
                  <a:srgbClr val="212529"/>
                </a:solidFill>
              </a:defRPr>
            </a:pPr>
            <a:r>
              <a:t>どこからどこまでか明確でない、一面に広がる領域。</a:t>
            </a:r>
            <a:br/>
            <a:br/>
            <a:r>
              <a:t>例：空、道路、太陽の一般表面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212529"/>
                </a:solidFill>
              </a:defRPr>
            </a:pPr>
            <a:r>
              <a:t>💡 PQ（パノプティック品質）のすごさ：</a:t>
            </a:r>
          </a:p>
          <a:p>
            <a:pPr>
              <a:spcBef>
                <a:spcPts val="400"/>
              </a:spcBef>
              <a:defRPr sz="1600">
                <a:solidFill>
                  <a:srgbClr val="6C757D"/>
                </a:solidFill>
              </a:defRPr>
            </a:pPr>
            <a:r>
              <a:t>昔のAI評価ではこれらを別々に採点していましたが、PQは「これらすべてを同時に1つのスコアで厳しく評価できる」画期的な仕組みです。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Arial"/>
              </a:defRPr>
            </a:pPr>
            <a:r>
              <a:t>合格ラインは「半分以上の重なり」(IoU &gt; 0.5)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■ IoU (Intersection over Union) とは？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200" b="1">
                <a:solidFill>
                  <a:srgbClr val="17A2B8"/>
                </a:solidFill>
              </a:defRPr>
            </a:pPr>
            <a:r>
              <a:t>    IoU = (重なっている面積) ÷ (全体の合計面積)</a:t>
            </a:r>
          </a:p>
          <a:p>
            <a:pPr>
              <a:defRPr sz="2000" b="1">
                <a:solidFill>
                  <a:srgbClr val="FD7E14"/>
                </a:solidFill>
              </a:defRPr>
            </a:pPr>
            <a:r>
              <a:t>⚠️ PQの絶対ルール：「0.5の壁」</a:t>
            </a:r>
          </a:p>
          <a:p>
            <a:pPr>
              <a:spcBef>
                <a:spcPts val="600"/>
              </a:spcBef>
              <a:defRPr sz="1600">
                <a:solidFill>
                  <a:srgbClr val="212529"/>
                </a:solidFill>
              </a:defRPr>
            </a:pPr>
            <a:r>
              <a:t>AIがどんなに「ここにフィラメントがある！」と予測しても、本物との重なり度(IoU)が50%を超えていなければ不合格(判定枠のミス)として処理されます。</a:t>
            </a:r>
          </a:p>
          <a:p>
            <a:pPr>
              <a:spcBef>
                <a:spcPts val="600"/>
              </a:spcBef>
              <a:defRPr sz="1600">
                <a:solidFill>
                  <a:srgbClr val="212529"/>
                </a:solidFill>
              </a:defRPr>
            </a:pPr>
            <a:r>
              <a:t>・IoU = 0.8  →  位置も形もバッチリ！【見事合格！】</a:t>
            </a:r>
          </a:p>
          <a:p>
            <a:pPr>
              <a:spcBef>
                <a:spcPts val="600"/>
              </a:spcBef>
              <a:defRPr sz="1600">
                <a:solidFill>
                  <a:srgbClr val="212529"/>
                </a:solidFill>
              </a:defRPr>
            </a:pPr>
            <a:r>
              <a:t>・IoU = 0.3  →  かすっただけ、あるいはズレすぎ【容赦なく不合格！】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Arial"/>
              </a:defRPr>
            </a:pPr>
            <a:r>
              <a:t>太陽フィラメントで実戦シミュレーション！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t>【設定】本物の太陽フィラメントは「3個」(A, B, C) あります。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3383280"/>
              </a:tblGrid>
              <a:tr h="8001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AIの予測結果 (ビジュアル)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理由・計算への影響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フィラメントA (IoU = 0.8) &amp; B (IoU = 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8A745"/>
                          </a:solidFill>
                        </a:defRPr>
                      </a:pPr>
                      <a:r>
                        <a:t>🟢 TP (的中)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50%の壁を突破して合格！(計2個)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謎の予測 (何もない空間に枠を作った)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D7E14"/>
                          </a:solidFill>
                        </a:defRPr>
                      </a:pPr>
                      <a:r>
                        <a:t>🟠 FP (お手つき)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空振り判定。ペナルティになります(計1個)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フィラメントC (AIが完全に見落とした)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C3545"/>
                          </a:solidFill>
                        </a:defRPr>
                      </a:pPr>
                      <a:r>
                        <a:t>🔴 FN (見落とし)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本物があるのに無視。大ペナルティ(計1個)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Arial"/>
              </a:defRPr>
            </a:pPr>
            <a:r>
              <a:t>PQを支える2つの通信簿：SQ と RQ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657600" cy="3840480"/>
          </a:xfrm>
          <a:prstGeom prst="rect">
            <a:avLst/>
          </a:prstGeom>
          <a:solidFill>
            <a:srgbClr val="F0F8FF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7A2B8"/>
                </a:solidFill>
              </a:defRPr>
            </a:pPr>
            <a:r>
              <a:t>📐 SQ (Segmentation Quality)</a:t>
            </a:r>
            <a:br/>
            <a:r>
              <a:t>   ＝ 「形」のキレイさ</a:t>
            </a:r>
          </a:p>
          <a:p>
            <a:br/>
            <a:pPr>
              <a:spcBef>
                <a:spcPts val="1000"/>
              </a:spcBef>
              <a:defRPr sz="1500">
                <a:solidFill>
                  <a:srgbClr val="212529"/>
                </a:solidFill>
              </a:defRPr>
            </a:pPr>
            <a:r>
              <a:t>見つけられた合格ペア(TP)の形がどれだけ正確かを測る(IoUの平均値)。</a:t>
            </a:r>
            <a:br/>
            <a:br/>
            <a:r>
              <a:t>【計算式】</a:t>
            </a:r>
            <a:br/>
            <a:r>
              <a:t>(0.8 + 0.6) ÷ 2</a:t>
            </a:r>
            <a:br/>
            <a:r>
              <a:t>= 0.70  →  70.0%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645920"/>
            <a:ext cx="3657600" cy="3840480"/>
          </a:xfrm>
          <a:prstGeom prst="rect">
            <a:avLst/>
          </a:prstGeom>
          <a:solidFill>
            <a:srgbClr val="FFF5F0"/>
          </a:solidFill>
          <a:ln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D7E14"/>
                </a:solidFill>
              </a:defRPr>
            </a:pPr>
            <a:r>
              <a:t>🎯 RQ (Recognition Quality)</a:t>
            </a:r>
            <a:br/>
            <a:r>
              <a:t>   ＝ 「見つけ方」の正確さ</a:t>
            </a:r>
          </a:p>
          <a:p>
            <a:br/>
            <a:pPr>
              <a:spcBef>
                <a:spcPts val="1000"/>
              </a:spcBef>
              <a:defRPr sz="1500">
                <a:solidFill>
                  <a:srgbClr val="212529"/>
                </a:solidFill>
              </a:defRPr>
            </a:pPr>
            <a:r>
              <a:t>見落とし(FN)やお手つき(FP)をどれだけ抑えられたかの正解率。</a:t>
            </a:r>
            <a:br/>
            <a:br/>
            <a:r>
              <a:t>【計算式】</a:t>
            </a:r>
            <a:br/>
            <a:r>
              <a:t>TP ÷ (TP + 0.5*FP + 0.5*FN)</a:t>
            </a:r>
            <a:br/>
            <a:r>
              <a:t>= 2 ÷ (2 + 0.5 + 0.5)</a:t>
            </a:r>
            <a:br/>
            <a:r>
              <a:t>= 2/3  →  66.7%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  <a:latin typeface="Arial"/>
              </a:defRPr>
            </a:pPr>
            <a:r>
              <a:t>最終結果：なぜPQは「欲張りで厳しい」のか？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2529"/>
                </a:solidFill>
              </a:defRPr>
            </a:pPr>
            <a:r>
              <a:t>● PQの最終計算は、2つのインジケーターの掛け算！</a:t>
            </a:r>
          </a:p>
          <a:p>
            <a:pPr>
              <a:spcBef>
                <a:spcPts val="1200"/>
              </a:spcBef>
              <a:spcAft>
                <a:spcPts val="2000"/>
              </a:spcAft>
              <a:defRPr sz="2600" b="1">
                <a:solidFill>
                  <a:srgbClr val="DC3545"/>
                </a:solidFill>
              </a:defRPr>
            </a:pPr>
            <a:r>
              <a:t>   PQ  ＝  SQ (70.0%)  ×  RQ (66.7%)  ＝  46.7%</a:t>
            </a:r>
          </a:p>
          <a:p>
            <a:pPr>
              <a:defRPr sz="1800" b="1">
                <a:solidFill>
                  <a:srgbClr val="17A2B8"/>
                </a:solidFill>
              </a:defRPr>
            </a:pPr>
            <a:r>
              <a:t>💡 高校生へのまとめ解説メッセージ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</a:defRPr>
            </a:pPr>
            <a:r>
              <a:t>「形をきれいに切り抜く力(SQ)が70点と高くても、たった1つの見落とし(FN)やお手つき(FP)といった検出ミス(RQ=66.7点)が混ざるだけで、全体の通信簿(PQ)は46.7点までグッと落とされてしまいます。」</a:t>
            </a:r>
          </a:p>
          <a:p>
            <a:pPr>
              <a:spcBef>
                <a:spcPts val="800"/>
              </a:spcBef>
              <a:defRPr sz="1600">
                <a:solidFill>
                  <a:srgbClr val="212529"/>
                </a:solidFill>
              </a:defRPr>
            </a:pPr>
            <a:r>
              <a:t>「形だけ良くてもダメ、数え方だけでもダメ。その両方を厳格に掛け算するからこそ、PQはAIの本物の実力を測る最高のマスターキーとして信頼されているんだよ！」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