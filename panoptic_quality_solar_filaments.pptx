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C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3272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F0F2F5"/>
                </a:solidFill>
              </a:defRPr>
            </a:pPr>
            <a:r>
              <a:t>太陽フィラメントで学ぶ！</a:t>
            </a:r>
            <a:br/>
            <a:r>
              <a:t>Panoptic Quality (PQ) の計算モデル</a:t>
            </a:r>
          </a:p>
          <a:p>
            <a:pPr>
              <a:defRPr sz="2000">
                <a:solidFill>
                  <a:srgbClr val="A0AEC0"/>
                </a:solidFill>
              </a:defRPr>
            </a:pPr>
            <a:r>
              <a:t>AIの境界認識と分類の正確さを、具体的な数式で計算してみよう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C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6F3C"/>
                </a:solidFill>
                <a:latin typeface="Arial"/>
              </a:defRPr>
            </a:pPr>
            <a:r>
              <a:t>PQ（パノプティック・クオリティ）の公式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0F2F5"/>
                </a:solidFill>
              </a:defRPr>
            </a:pPr>
            <a:r>
              <a:t>PQは「SQ（形のキレイさ）」と「RQ（見つけ方の正確さ）」の掛け算！</a:t>
            </a:r>
          </a:p>
          <a:p>
            <a:br/>
            <a:pPr>
              <a:defRPr sz="2000">
                <a:solidFill>
                  <a:srgbClr val="A0AEC0"/>
                </a:solidFill>
              </a:defRPr>
            </a:pPr>
            <a:r>
              <a:t>公式：</a:t>
            </a:r>
          </a:p>
          <a:p>
            <a:pPr>
              <a:defRPr sz="3200" b="1">
                <a:solidFill>
                  <a:srgbClr val="40A9FF"/>
                </a:solidFill>
              </a:defRPr>
            </a:pPr>
            <a:r>
              <a:t>PQ = SQ × RQ</a:t>
            </a:r>
          </a:p>
          <a:p>
            <a:pPr>
              <a:defRPr sz="1800">
                <a:solidFill>
                  <a:srgbClr val="F0F2F5"/>
                </a:solidFill>
              </a:defRPr>
            </a:pPr>
            <a:r>
              <a:t>• SQ (Segmentation Quality) = マッチした物体の平均 IoU (重なりの割合)</a:t>
            </a:r>
            <a:br/>
            <a:r>
              <a:t>• RQ (Recognition Quality) = 物体としての見つけ方の正確さ (F1スコアと同じ計算)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C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6F3C"/>
                </a:solidFill>
                <a:latin typeface="Arial"/>
              </a:defRPr>
            </a:pPr>
            <a:r>
              <a:t>具体的な設定：太陽フィラメントの検出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F0F2F5"/>
                </a:solidFill>
              </a:defRPr>
            </a:pPr>
            <a:r>
              <a:t>宇宙の天体写真から、AIに「太陽フィラメント（黒いひも状のガス）」を探させます。</a:t>
            </a:r>
          </a:p>
          <a:p>
            <a:br/>
            <a:pPr>
              <a:defRPr sz="2000">
                <a:solidFill>
                  <a:srgbClr val="A0AEC0"/>
                </a:solidFill>
              </a:defRPr>
            </a:pPr>
            <a:r>
              <a:t>【現実（正解データ）】実際のフィラメントは 3個</a:t>
            </a:r>
            <a:br/>
            <a:r>
              <a:t>【AIの予測】AIが見つけたフィラメントは 3個</a:t>
            </a:r>
          </a:p>
          <a:p>
            <a:br/>
            <a:pPr>
              <a:defRPr sz="1800">
                <a:solidFill>
                  <a:srgbClr val="F0F2F5"/>
                </a:solidFill>
              </a:defRPr>
            </a:pPr>
            <a:r>
              <a:t>結果のデータ：</a:t>
            </a:r>
          </a:p>
          <a:p>
            <a:pPr>
              <a:defRPr sz="1800">
                <a:solidFill>
                  <a:srgbClr val="F0F2F5"/>
                </a:solidFill>
              </a:defRPr>
            </a:pPr>
            <a:r>
              <a:t>• フィラメントA: AIの形が超リアルに重なった！ (IoU = 0.8)</a:t>
            </a:r>
            <a:br/>
            <a:r>
              <a:t>• フィラメントB: 位置は合ってるけど少しズレた (IoU = 0.6)</a:t>
            </a:r>
            <a:br/>
            <a:r>
              <a:t>• フィラメントC: AIが完全に見落とした (FN)</a:t>
            </a:r>
            <a:br/>
            <a:r>
              <a:t>• お手つきケース: フィラメントが無い場所にAIが勝手に予測した (FP)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C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6F3C"/>
                </a:solidFill>
                <a:latin typeface="Arial"/>
              </a:defRPr>
            </a:pPr>
            <a:r>
              <a:t>ステップ1：TP / FP / FN に仕分ける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0F2F5"/>
                </a:solidFill>
              </a:defRPr>
            </a:pPr>
            <a:r>
              <a:t>PQルール：「半分以上 (IoU &gt; 0.5) 重なっていたら合格(TP)」とする！</a:t>
            </a:r>
          </a:p>
          <a:p>
            <a:br/>
            <a:pPr>
              <a:defRPr sz="2000">
                <a:solidFill>
                  <a:srgbClr val="40A9FF"/>
                </a:solidFill>
              </a:defRPr>
            </a:pPr>
            <a:r>
              <a:t>• TP（見事的中）: 2個 (フィラメントA: 0.8 &gt; 0.5, フィラメントB: 0.6 &gt; 0.5)</a:t>
            </a:r>
            <a:br/>
            <a:r>
              <a:t>• FP（お手つき）: 1個 (何もない場所に勝手に予測したもの)</a:t>
            </a:r>
            <a:br/>
            <a:r>
              <a:t>• FN（見落とし）: 1個 (実際のフィラメントCをスルーしたもの)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C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6F3C"/>
                </a:solidFill>
                <a:latin typeface="Arial"/>
              </a:defRPr>
            </a:pPr>
            <a:r>
              <a:t>ステップ2：SQ と RQ の計算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F0F2F5"/>
                </a:solidFill>
              </a:defRPr>
            </a:pPr>
            <a:r>
              <a:t>① SQ（形のキレイさ）の計算：合格したペアのIoUの平均値</a:t>
            </a:r>
          </a:p>
          <a:p>
            <a:pPr>
              <a:defRPr sz="2200" b="1">
                <a:solidFill>
                  <a:srgbClr val="FF6F3C"/>
                </a:solidFill>
              </a:defRPr>
            </a:pPr>
            <a:r>
              <a:t>SQ = (0.8 + 0.6) / 2 = 0.70 (70%)</a:t>
            </a:r>
          </a:p>
          <a:p>
            <a:br/>
            <a:pPr>
              <a:defRPr sz="2000">
                <a:solidFill>
                  <a:srgbClr val="F0F2F5"/>
                </a:solidFill>
              </a:defRPr>
            </a:pPr>
            <a:r>
              <a:t>② RQ（見つけ方の正確さ）の計算：ペナルティを含めた正解率</a:t>
            </a:r>
          </a:p>
          <a:p>
            <a:pPr>
              <a:defRPr sz="2200" b="1">
                <a:solidFill>
                  <a:srgbClr val="FF6F3C"/>
                </a:solidFill>
              </a:defRPr>
            </a:pPr>
            <a:r>
              <a:t>RQ = TP / (TP + 0.5×FP + 0.5×FN)</a:t>
            </a:r>
            <a:br/>
            <a:r>
              <a:t>RQ = 2 / (2 + 0.5×1 + 0.5×1) = 2 / 3 ≒ 0.667 (66.7%)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C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6F3C"/>
                </a:solidFill>
                <a:latin typeface="Arial"/>
              </a:defRPr>
            </a:pPr>
            <a:r>
              <a:t>ステップ3：最終的な PQ を算出！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F0F2F5"/>
                </a:solidFill>
              </a:defRPr>
            </a:pPr>
            <a:r>
              <a:t>最後に SQ と RQ を掛け算します！</a:t>
            </a:r>
          </a:p>
          <a:p>
            <a:br/>
            <a:pPr>
              <a:defRPr sz="3600" b="1">
                <a:solidFill>
                  <a:srgbClr val="40A9FF"/>
                </a:solidFill>
              </a:defRPr>
            </a:pPr>
            <a:r>
              <a:t>PQ = SQ × RQ</a:t>
            </a:r>
            <a:br/>
            <a:r>
              <a:t>   = 0.70 × 0.667</a:t>
            </a:r>
            <a:br/>
            <a:r>
              <a:t>   ≒ 0.467 (46.7%)</a:t>
            </a:r>
          </a:p>
          <a:p>
            <a:br/>
            <a:pPr>
              <a:defRPr sz="1800">
                <a:solidFill>
                  <a:srgbClr val="A0AEC0"/>
                </a:solidFill>
              </a:defRPr>
            </a:pPr>
            <a:r>
              <a:t>【結論】このAIの太陽フィラメント検出能力は「46.7点」と評価されました！</a:t>
            </a:r>
            <a:br/>
            <a:r>
              <a:t>形をきれいに捉える力(70%)があっても、見落としやお手つきがあると、PQスコアは厳しく評価されます。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